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upwork.com/hc/en-us/articles/211063398-How-to-start-hiring-on-Upwork" TargetMode="External"/><Relationship Id="rId3" Type="http://schemas.openxmlformats.org/officeDocument/2006/relationships/hyperlink" Target="https://help.behance.net/hc/en-us/articles/204483894-What-is-Behance" TargetMode="External"/><Relationship Id="rId4" Type="http://schemas.openxmlformats.org/officeDocument/2006/relationships/hyperlink" Target="https://www.adobe.com/products/firefly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hance.net/gallery/252637499/AI-Filmmaker-VFX-Artist-Cinematic-Storytelling-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365760"/>
            <a:ext cx="4114800" cy="4114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383280"/>
            <a:ext cx="3108960" cy="3108960"/>
          </a:xfrm>
          <a:prstGeom prst="ellipse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206240"/>
            <a:ext cx="2011680" cy="2011680"/>
          </a:xfrm>
          <a:prstGeom prst="ellipse">
            <a:avLst/>
          </a:prstGeom>
          <a:solidFill>
            <a:srgbClr val="B8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12648"/>
            <a:ext cx="2487168" cy="320040"/>
          </a:xfrm>
          <a:prstGeom prst="roundRect">
            <a:avLst>
              <a:gd name="adj" fmla="val 12000"/>
            </a:avLst>
          </a:prstGeom>
          <a:solidFill>
            <a:srgbClr val="1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621792"/>
            <a:ext cx="2340864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EEAD4"/>
                </a:solidFill>
                <a:latin typeface="Aptos"/>
              </a:rPr>
              <a:t>AI-NATIVE CREATOR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71323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AI creators are here.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Hiring systems aren’t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999232"/>
            <a:ext cx="6400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D3E0E3"/>
                </a:solidFill>
                <a:latin typeface="Aptos"/>
              </a:rPr>
              <a:t>CreatorTwin turns AI-creator discovery into an evidence-led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D3E0E3"/>
                </a:solidFill>
                <a:latin typeface="Aptos"/>
              </a:rPr>
              <a:t>workflow—from campaign brief to approved delivery.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4160520"/>
            <a:ext cx="5413248" cy="0"/>
          </a:xfrm>
          <a:prstGeom prst="line">
            <a:avLst/>
          </a:prstGeom>
          <a:ln w="12700">
            <a:solidFill>
              <a:srgbClr val="395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437997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43799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43799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37997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DELIVER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35254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5E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435254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5E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35254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5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1271016"/>
            <a:ext cx="3611880" cy="3986784"/>
          </a:xfrm>
          <a:prstGeom prst="roundRect">
            <a:avLst>
              <a:gd name="adj" fmla="val 12000"/>
            </a:avLst>
          </a:prstGeom>
          <a:solidFill>
            <a:srgbClr val="132630"/>
          </a:solidFill>
          <a:ln w="12700">
            <a:solidFill>
              <a:srgbClr val="345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65008" y="1600200"/>
            <a:ext cx="539496" cy="5394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719072"/>
            <a:ext cx="539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MJ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61848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Manindra Jonnakuti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9385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8C7D0"/>
                </a:solidFill>
                <a:latin typeface="Aptos"/>
              </a:rPr>
              <a:t>AI filmmaker · Guntur, India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65008" y="2404872"/>
            <a:ext cx="2990088" cy="0"/>
          </a:xfrm>
          <a:prstGeom prst="line">
            <a:avLst/>
          </a:prstGeom>
          <a:ln w="10160">
            <a:solidFill>
              <a:srgbClr val="34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83296" y="259689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PORTFOLIO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16936"/>
            <a:ext cx="2816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AI cinematic short film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355848"/>
            <a:ext cx="1124712" cy="274320"/>
          </a:xfrm>
          <a:prstGeom prst="roundRect">
            <a:avLst>
              <a:gd name="adj" fmla="val 12000"/>
            </a:avLst>
          </a:prstGeom>
          <a:solidFill>
            <a:srgbClr val="21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364991"/>
            <a:ext cx="97840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VEO 3.1 FAST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7736" y="3355848"/>
            <a:ext cx="749808" cy="274320"/>
          </a:xfrm>
          <a:prstGeom prst="roundRect">
            <a:avLst>
              <a:gd name="adj" fmla="val 12000"/>
            </a:avLst>
          </a:prstGeom>
          <a:solidFill>
            <a:srgbClr val="30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3364991"/>
            <a:ext cx="603503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B2FF"/>
                </a:solidFill>
                <a:latin typeface="Aptos"/>
              </a:rPr>
              <a:t>FLOW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404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B8C7D0"/>
                </a:solidFill>
                <a:latin typeface="Aptos"/>
              </a:rPr>
              <a:t>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0565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Concept  →  AI production  →  final film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4636008"/>
            <a:ext cx="1353312" cy="274320"/>
          </a:xfrm>
          <a:prstGeom prst="roundRect">
            <a:avLst>
              <a:gd name="adj" fmla="val 12000"/>
            </a:avLst>
          </a:prstGeom>
          <a:solidFill>
            <a:srgbClr val="51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645152"/>
            <a:ext cx="120700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B2A8"/>
                </a:solidFill>
                <a:latin typeface="Aptos"/>
              </a:rPr>
              <a:t>RIGHTS UNVERIFIED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33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AFC2C7"/>
                </a:solidFill>
                <a:latin typeface="Aptos"/>
              </a:rPr>
              <a:t>A visible gap becomes a visible signal.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8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2969D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2969D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A beautiful output is not enough to hire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AI-native work introduces questions a thumbnail alone cannot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523036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66543"/>
            <a:ext cx="420624" cy="420624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5798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39112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252D"/>
                </a:solidFill>
                <a:latin typeface="Aptos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04872"/>
            <a:ext cx="4069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Who can make this with the right model, medium and style?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847088"/>
            <a:ext cx="523036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82512" y="2066543"/>
            <a:ext cx="420624" cy="420624"/>
          </a:xfrm>
          <a:prstGeom prst="ellipse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15798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758C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3" y="2039112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252D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2404872"/>
            <a:ext cx="4069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What tools and workflow sit behind the portfolio piece?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291840"/>
            <a:ext cx="523036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511296"/>
            <a:ext cx="420624" cy="420624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02736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6B5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83864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252D"/>
                </a:solidFill>
                <a:latin typeface="Aptos"/>
              </a:rPr>
              <a:t>Commercial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49624"/>
            <a:ext cx="4069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Can the brand actually use the delivered work—and where?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3291840"/>
            <a:ext cx="523036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3511296"/>
            <a:ext cx="420624" cy="420624"/>
          </a:xfrm>
          <a:prstGeom prst="ellipse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602736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B6A12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3" y="3483864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252D"/>
                </a:solidFill>
                <a:latin typeface="Aptos"/>
              </a:rPr>
              <a:t>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849624"/>
            <a:ext cx="4069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Where do versions, revision notes and approval live?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73838A"/>
                </a:solidFill>
                <a:latin typeface="Aptos"/>
              </a:rPr>
              <a:t>TODAY’S HANDOFF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04104"/>
            <a:ext cx="1664208" cy="5120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550408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B514A"/>
                </a:solidFill>
                <a:latin typeface="Aptos"/>
              </a:rPr>
              <a:t>Portfolio link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71216" y="5404104"/>
            <a:ext cx="1664208" cy="5120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2656" y="5550408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B514A"/>
                </a:solidFill>
                <a:latin typeface="Aptos"/>
              </a:rPr>
              <a:t>DM / email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5404104"/>
            <a:ext cx="1664208" cy="5120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3" y="5550408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B514A"/>
                </a:solidFill>
                <a:latin typeface="Aptos"/>
              </a:rPr>
              <a:t>Loose brief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5404104"/>
            <a:ext cx="1664208" cy="5120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5550408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B514A"/>
                </a:solidFill>
                <a:latin typeface="Aptos"/>
              </a:rPr>
              <a:t>Unclear rights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5404104"/>
            <a:ext cx="1664208" cy="5120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5550408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B514A"/>
                </a:solidFill>
                <a:latin typeface="Aptos"/>
              </a:rPr>
              <a:t>File + 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9152" y="5522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6B5E"/>
                </a:solidFill>
                <a:latin typeface="Aptos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22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6B5E"/>
                </a:solidFill>
                <a:latin typeface="Aptos"/>
              </a:rPr>
              <a:t>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522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6B5E"/>
                </a:solidFill>
                <a:latin typeface="Aptos"/>
              </a:rPr>
              <a:t>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7696" y="5522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6B5E"/>
                </a:solidFill>
                <a:latin typeface="Aptos"/>
              </a:rPr>
              <a:t>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02 /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Adjacent products solve parts of the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CreatorTwin is designed around the missing connective layer for AI campaign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3584448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847088"/>
            <a:ext cx="3584448" cy="128016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9696"/>
            <a:ext cx="3154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F766E"/>
                </a:solidFill>
                <a:latin typeface="Aptos"/>
              </a:rPr>
              <a:t>FREELANCE MARKETPLACES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Find talent · scope projects · manage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3697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2545C"/>
                </a:solidFill>
                <a:latin typeface="Aptos"/>
              </a:rPr>
              <a:t>Strong at general hiring and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487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OPEN GAP FOR THIS USE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07408"/>
            <a:ext cx="3273552" cy="521207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999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4252D"/>
                </a:solidFill>
                <a:latin typeface="Aptos"/>
              </a:rPr>
              <a:t>AI production evidence and rights fit are not the organizing unit.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847088"/>
            <a:ext cx="3584448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847088"/>
            <a:ext cx="3584448" cy="128016"/>
          </a:xfrm>
          <a:prstGeom prst="roundRect">
            <a:avLst>
              <a:gd name="adj" fmla="val 12000"/>
            </a:avLst>
          </a:prstGeom>
          <a:solidFill>
            <a:srgbClr val="675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7" y="2139696"/>
            <a:ext cx="3154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758C8"/>
                </a:solidFill>
                <a:latin typeface="Aptos"/>
              </a:rPr>
              <a:t>PORTFOLIO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7" y="251460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Showcase · browse · follow creative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323697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7" y="347472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2545C"/>
                </a:solidFill>
                <a:latin typeface="Aptos"/>
              </a:rPr>
              <a:t>Strong at visual discovery and inspiration.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4114800"/>
            <a:ext cx="2487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OPEN GAP FOR THIS USE CASE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6007" y="4407408"/>
            <a:ext cx="3273552" cy="521207"/>
          </a:xfrm>
          <a:prstGeom prst="roundRect">
            <a:avLst>
              <a:gd name="adj" fmla="val 12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4480560"/>
            <a:ext cx="2999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4252D"/>
                </a:solidFill>
                <a:latin typeface="Aptos"/>
              </a:rPr>
              <a:t>A campaign brief and its delivery/review state live elsewhere.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1847088"/>
            <a:ext cx="3584448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39327" y="1847088"/>
            <a:ext cx="3584448" cy="128016"/>
          </a:xfrm>
          <a:prstGeom prst="roundRect">
            <a:avLst>
              <a:gd name="adj" fmla="val 12000"/>
            </a:avLst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2139696"/>
            <a:ext cx="3154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6B5E"/>
                </a:solidFill>
                <a:latin typeface="Aptos"/>
              </a:rPr>
              <a:t>AI CREATION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51460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Generate · edit · iterate with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323697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STRENGTH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347472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2545C"/>
                </a:solidFill>
                <a:latin typeface="Aptos"/>
              </a:rPr>
              <a:t>Strong at making content with AI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4114800"/>
            <a:ext cx="2487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OPEN GAP FOR THIS USE CASE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4776" y="4407408"/>
            <a:ext cx="3273552" cy="521207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4480560"/>
            <a:ext cx="2999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4252D"/>
                </a:solidFill>
                <a:latin typeface="Aptos"/>
              </a:rPr>
              <a:t>They are creation environments, not creator marketplaces.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376672"/>
            <a:ext cx="10936224" cy="576072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5504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CREATORTWIN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513832"/>
            <a:ext cx="8595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Evidence-led creator discovery  +  structured brief  +  rights-aware match  +  delivery workflow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528816"/>
            <a:ext cx="6080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>
                <a:solidFill>
                  <a:srgbClr val="0F766E"/>
                </a:solidFill>
                <a:latin typeface="Aptos"/>
                <a:hlinkClick r:id="rId2"/>
              </a:rPr>
              <a:t>Upwork hiring overview  ·  </a:t>
            </a:r>
            <a:r>
              <a:rPr sz="700">
                <a:solidFill>
                  <a:srgbClr val="0F766E"/>
                </a:solidFill>
                <a:latin typeface="Aptos"/>
                <a:hlinkClick r:id="rId3"/>
              </a:rPr>
              <a:t>Behance overview  ·  </a:t>
            </a:r>
            <a:r>
              <a:rPr sz="700">
                <a:solidFill>
                  <a:srgbClr val="0F766E"/>
                </a:solidFill>
                <a:latin typeface="Aptos"/>
                <a:hlinkClick r:id="rId4"/>
              </a:rPr>
              <a:t>Adobe Firefly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03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One workflow from “find a creator” to “approve the work.”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CreatorTwin turns AI production metadata into practical hiring and collaboration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52374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450592"/>
            <a:ext cx="502920" cy="502920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59689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172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75304"/>
            <a:ext cx="2084831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Filter by specialty, tools, skills, format and portfolio evidence.</a:t>
            </a:r>
          </a:p>
        </p:txBody>
      </p:sp>
      <p:sp>
        <p:nvSpPr>
          <p:cNvPr id="10" name="Oval 9"/>
          <p:cNvSpPr/>
          <p:nvPr/>
        </p:nvSpPr>
        <p:spPr>
          <a:xfrm>
            <a:off x="3264408" y="3264408"/>
            <a:ext cx="274320" cy="274320"/>
          </a:xfrm>
          <a:prstGeom prst="ellipse">
            <a:avLst/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331012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194560"/>
            <a:ext cx="252374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39896" y="2450592"/>
            <a:ext cx="502920" cy="502920"/>
          </a:xfrm>
          <a:prstGeom prst="ellipse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59689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758C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172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758C8"/>
                </a:solidFill>
                <a:latin typeface="Aptos"/>
              </a:rPr>
              <a:t>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575304"/>
            <a:ext cx="2084831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Turn a rough idea into a structured campaign brief.</a:t>
            </a:r>
          </a:p>
        </p:txBody>
      </p:sp>
      <p:sp>
        <p:nvSpPr>
          <p:cNvPr id="17" name="Oval 16"/>
          <p:cNvSpPr/>
          <p:nvPr/>
        </p:nvSpPr>
        <p:spPr>
          <a:xfrm>
            <a:off x="6153912" y="3264408"/>
            <a:ext cx="274320" cy="274320"/>
          </a:xfrm>
          <a:prstGeom prst="ellipse">
            <a:avLst/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331012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194560"/>
            <a:ext cx="252374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2450592"/>
            <a:ext cx="502920" cy="50292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59689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6B5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72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5E"/>
                </a:solidFill>
                <a:latin typeface="Aptos"/>
              </a:rPr>
              <a:t>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575304"/>
            <a:ext cx="2084831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See what aligns, what is missing and whether rights fit.</a:t>
            </a:r>
          </a:p>
        </p:txBody>
      </p:sp>
      <p:sp>
        <p:nvSpPr>
          <p:cNvPr id="24" name="Oval 23"/>
          <p:cNvSpPr/>
          <p:nvPr/>
        </p:nvSpPr>
        <p:spPr>
          <a:xfrm>
            <a:off x="9043416" y="3264408"/>
            <a:ext cx="274320" cy="274320"/>
          </a:xfrm>
          <a:prstGeom prst="ellipse">
            <a:avLst/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331012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2194560"/>
            <a:ext cx="252374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18904" y="2450592"/>
            <a:ext cx="502920" cy="502920"/>
          </a:xfrm>
          <a:prstGeom prst="ellipse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18904" y="259689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B6A12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172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B6A12"/>
                </a:solidFill>
                <a:latin typeface="Aptos"/>
              </a:rPr>
              <a:t>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3575304"/>
            <a:ext cx="2084831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2545C"/>
                </a:solidFill>
                <a:latin typeface="Aptos"/>
              </a:rPr>
              <a:t>Track delivery links, notes, revisions, approval and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47488"/>
            <a:ext cx="10899648" cy="822960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285232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THE PRODUCT PROMISE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239512"/>
            <a:ext cx="8138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252D"/>
                </a:solidFill>
                <a:latin typeface="Aptos"/>
              </a:rPr>
              <a:t>Make the creative fit legible before the contract—and the work reviewable after it.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04 / WHO IT 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Three roles. One shared source of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Designed for the brand buying the work, the creator making it, and the reviewer validating trust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901952"/>
            <a:ext cx="3593592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2139696"/>
            <a:ext cx="438912" cy="438912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677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221992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BRAND /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70632"/>
            <a:ext cx="30723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“Can this creator deliver this brief—and can we use the result?”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74903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657600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Build a brief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4187952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096512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Compare fit reasons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62686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535424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Review delivery + revisions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1901952"/>
            <a:ext cx="3593592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27448" y="2139696"/>
            <a:ext cx="438912" cy="438912"/>
          </a:xfrm>
          <a:prstGeom prst="ellipse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22677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758C8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221992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758C8"/>
                </a:solidFill>
                <a:latin typeface="Aptos"/>
              </a:rPr>
              <a:t>AI CREATOR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770632"/>
            <a:ext cx="30723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“Can I prove how I work and get a fair, clear brief?”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374903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3657600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Show tools + workflow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4187952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4096512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Set rights and formats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462686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4535424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Submit versioned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1901952"/>
            <a:ext cx="3593592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0" y="2139696"/>
            <a:ext cx="438912" cy="438912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2677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5E"/>
                </a:solidFill>
                <a:latin typeface="Aptos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221992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6B5E"/>
                </a:solidFill>
                <a:latin typeface="Aptos"/>
              </a:rPr>
              <a:t>REVIEWER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770632"/>
            <a:ext cx="30723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252D"/>
                </a:solidFill>
                <a:latin typeface="Aptos"/>
              </a:rPr>
              <a:t>“Is this claim backed by evidence?”</a:t>
            </a:r>
          </a:p>
        </p:txBody>
      </p:sp>
      <p:sp>
        <p:nvSpPr>
          <p:cNvPr id="32" name="Oval 31"/>
          <p:cNvSpPr/>
          <p:nvPr/>
        </p:nvSpPr>
        <p:spPr>
          <a:xfrm>
            <a:off x="8622792" y="374903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657600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Inspect submitted evidence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8622792" y="4187952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4096512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Approve or request changes</a:t>
            </a:r>
          </a:p>
        </p:txBody>
      </p:sp>
      <p:sp>
        <p:nvSpPr>
          <p:cNvPr id="36" name="Oval 35"/>
          <p:cNvSpPr/>
          <p:nvPr/>
        </p:nvSpPr>
        <p:spPr>
          <a:xfrm>
            <a:off x="8622792" y="462686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4535424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2545C"/>
                </a:solidFill>
                <a:latin typeface="Aptos"/>
              </a:rPr>
              <a:t>Record a 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86400"/>
            <a:ext cx="10881360" cy="466344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63270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BRIEF OWNER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2264" y="559612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Brand / agency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55869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5E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5632704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WORK OWNER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59612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Creator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55869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5E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7144" y="5632704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TRUST 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5596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Reviewer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5961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8D6DA"/>
                </a:solidFill>
                <a:latin typeface="Aptos"/>
              </a:rPr>
              <a:t>→ shared evidence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05 / 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Make the process behind the pixels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AI portfolios carry the production context brands need—not just the final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565392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84831"/>
            <a:ext cx="1874519" cy="274320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93975"/>
            <a:ext cx="172821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PUBLIC PORTFOLIO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4252D"/>
                </a:solidFill>
                <a:latin typeface="Aptos"/>
              </a:rPr>
              <a:t>AI cinematic short film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962656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3838A"/>
                </a:solidFill>
                <a:latin typeface="Aptos"/>
              </a:rPr>
              <a:t>Creator-attributed · source-linked · not independently verified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3410712"/>
            <a:ext cx="5971032" cy="0"/>
          </a:xfrm>
          <a:prstGeom prst="line">
            <a:avLst/>
          </a:prstGeom>
          <a:ln w="1905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5256" y="3639312"/>
            <a:ext cx="13990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TOOLS /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" y="3941063"/>
            <a:ext cx="1225296" cy="274320"/>
          </a:xfrm>
          <a:prstGeom prst="roundRect">
            <a:avLst>
              <a:gd name="adj" fmla="val 12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950207"/>
            <a:ext cx="1078992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94BAB"/>
                </a:solidFill>
                <a:latin typeface="Aptos"/>
              </a:rPr>
              <a:t>Google Flow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21992" y="3941063"/>
            <a:ext cx="1591056" cy="274320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3950207"/>
            <a:ext cx="1444752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Google Veo 3.1 Fast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7" y="3941063"/>
            <a:ext cx="1088136" cy="274320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3950207"/>
            <a:ext cx="941832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42545C"/>
                </a:solidFill>
                <a:latin typeface="Aptos"/>
              </a:rPr>
              <a:t>After Effects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4897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7548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Concept  →  AI-assisted production  →  cinematic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5321808"/>
            <a:ext cx="2020824" cy="274320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330952"/>
            <a:ext cx="18745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AI USE: CREATOR-DESCRIBED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4952" y="5321808"/>
            <a:ext cx="1627632" cy="274320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8104" y="5330952"/>
            <a:ext cx="148132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A34D43"/>
                </a:solidFill>
                <a:latin typeface="Aptos"/>
              </a:rPr>
              <a:t>RIGHTS: UNVERIFIED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5715000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73838A"/>
                </a:solidFill>
                <a:latin typeface="Aptos"/>
              </a:rPr>
              <a:t>Source: Manindra Jonnakuti’s public Behance project. These sample records are attributed previews, not rights-cleared CreatorTwin inventory.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93852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EVIDENCE LABELS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340864"/>
            <a:ext cx="1645920" cy="274320"/>
          </a:xfrm>
          <a:prstGeom prst="roundRect">
            <a:avLst>
              <a:gd name="adj" fmla="val 12000"/>
            </a:avLst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350008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0F766E"/>
                </a:solidFill>
                <a:latin typeface="Aptos"/>
              </a:rPr>
              <a:t>CREATOR-DESCRIBED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350008"/>
            <a:ext cx="206654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2545C"/>
                </a:solidFill>
                <a:latin typeface="Aptos"/>
              </a:rPr>
              <a:t>Claim is attributed to the public creator source.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172968"/>
            <a:ext cx="1682496" cy="274320"/>
          </a:xfrm>
          <a:prstGeom prst="roundRect">
            <a:avLst>
              <a:gd name="adj" fmla="val 12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2" y="3182112"/>
            <a:ext cx="1536192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594BAB"/>
                </a:solidFill>
                <a:latin typeface="Aptos"/>
              </a:rPr>
              <a:t>REVIEWER-VERIFIED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3182112"/>
            <a:ext cx="206654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2545C"/>
                </a:solidFill>
                <a:latin typeface="Aptos"/>
              </a:rPr>
              <a:t>Reserved for a claim approved through 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005072"/>
            <a:ext cx="1645920" cy="274320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4014215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A34D43"/>
                </a:solidFill>
                <a:latin typeface="Aptos"/>
              </a:rPr>
              <a:t>NOT DISCLOSED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4014215"/>
            <a:ext cx="206654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2545C"/>
                </a:solidFill>
                <a:latin typeface="Aptos"/>
              </a:rPr>
              <a:t>Missing tools or models stay visibly missing.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837176"/>
            <a:ext cx="1645920" cy="274320"/>
          </a:xfrm>
          <a:prstGeom prst="roundRect">
            <a:avLst>
              <a:gd name="adj" fmla="val 12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846320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AB6A12"/>
                </a:solidFill>
                <a:latin typeface="Aptos"/>
              </a:rPr>
              <a:t>RIGHTS UNVERIFIED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4846320"/>
            <a:ext cx="206654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2545C"/>
                </a:solidFill>
                <a:latin typeface="Aptos"/>
              </a:rPr>
              <a:t>Public visibility is not a usage license.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5705856"/>
            <a:ext cx="3877056" cy="274320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5769864"/>
            <a:ext cx="3611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Portfolio item = media + provenance + workflow + rights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6528816"/>
            <a:ext cx="6080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>
                <a:solidFill>
                  <a:srgbClr val="0F766E"/>
                </a:solidFill>
                <a:latin typeface="Aptos"/>
                <a:hlinkClick r:id="rId2"/>
              </a:rPr>
              <a:t>Behance project 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06 / BRIEF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Turn a fuzzy idea into a brief a creator can act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The AI assistant structures the request; the brand remains the decision-maker.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877056" cy="4215384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 w="12700">
            <a:solidFill>
              <a:srgbClr val="0B1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1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12263"/>
            <a:ext cx="76809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BRAND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3200400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“We’re launching a new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energy drink. Need something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cinematic for social.”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206240"/>
            <a:ext cx="3319272" cy="0"/>
          </a:xfrm>
          <a:prstGeom prst="line">
            <a:avLst/>
          </a:prstGeom>
          <a:ln w="19050">
            <a:solidFill>
              <a:srgbClr val="34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443984"/>
            <a:ext cx="1280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246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1DFE2"/>
                </a:solidFill>
                <a:latin typeface="Aptos"/>
              </a:rPr>
              <a:t>Asks for the missing choices: audience, aspect ratio, runtime and usage rights.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577840"/>
            <a:ext cx="2468880" cy="274320"/>
          </a:xfrm>
          <a:prstGeom prst="roundRect">
            <a:avLst>
              <a:gd name="adj" fmla="val 12000"/>
            </a:avLst>
          </a:prstGeom>
          <a:solidFill>
            <a:srgbClr val="24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86983"/>
            <a:ext cx="232257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B8C7D0"/>
                </a:solidFill>
                <a:latin typeface="Aptos"/>
              </a:rPr>
              <a:t>GEMINI-POWERED WHEN CONFIGURED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828800"/>
            <a:ext cx="6748272" cy="4215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212140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STRUCTURED CAMPAIGN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3208" y="2596896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97479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89503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Launch awareness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6" y="2596896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697479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889503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AI short-form film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3208" y="3346703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447287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39311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Cinematic · high energy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6" y="3346703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447287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639311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College students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3208" y="4096511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197096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3891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9:16 · 30 seconds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6" y="4096511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197096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TOOLS /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43891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Veo · editing · storyboarding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93208" y="4846320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946904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USAGE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138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Paid social · commercial license required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6" y="4846320"/>
            <a:ext cx="2889504" cy="603504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4946904"/>
            <a:ext cx="2651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73838A"/>
                </a:solidFill>
                <a:latin typeface="Aptos"/>
              </a:rPr>
              <a:t>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138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52D"/>
                </a:solidFill>
                <a:latin typeface="Aptos"/>
              </a:rPr>
              <a:t>Instagram · due date +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5696712"/>
            <a:ext cx="6035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42545C"/>
                </a:solidFill>
                <a:latin typeface="Aptos"/>
              </a:rPr>
              <a:t>Clear inputs improve matching and prevent late surprises about format, process or rights.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07 / DISCOVERY &amp;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A fit score should explain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CreatorTwin compares only the requirements in the brief and shows matched and missing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01952"/>
            <a:ext cx="2852928" cy="4050791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 w="12700">
            <a:solidFill>
              <a:srgbClr val="0B1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18541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BRIEF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660904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90A8AF"/>
                </a:solidFill>
                <a:latin typeface="Aptos"/>
              </a:rPr>
              <a:t>SPECIALTY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862072"/>
            <a:ext cx="2221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AI filmmaking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" y="3154680"/>
            <a:ext cx="2276856" cy="0"/>
          </a:xfrm>
          <a:prstGeom prst="line">
            <a:avLst/>
          </a:prstGeom>
          <a:ln w="10160">
            <a:solidFill>
              <a:srgbClr val="28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5256" y="3291840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90A8AF"/>
                </a:solidFill>
                <a:latin typeface="Aptos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93008"/>
            <a:ext cx="2221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9:16 video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" y="3785616"/>
            <a:ext cx="2276856" cy="0"/>
          </a:xfrm>
          <a:prstGeom prst="line">
            <a:avLst/>
          </a:prstGeom>
          <a:ln w="10160">
            <a:solidFill>
              <a:srgbClr val="28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5256" y="3922776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90A8AF"/>
                </a:solidFill>
                <a:latin typeface="Aptos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123944"/>
            <a:ext cx="2221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Veo / Flow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" y="4416552"/>
            <a:ext cx="2276856" cy="0"/>
          </a:xfrm>
          <a:prstGeom prst="line">
            <a:avLst/>
          </a:prstGeom>
          <a:ln w="10160">
            <a:solidFill>
              <a:srgbClr val="28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256" y="455371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90A8AF"/>
                </a:solidFill>
                <a:latin typeface="Aptos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754880"/>
            <a:ext cx="2221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Paid commercial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" y="5385816"/>
            <a:ext cx="2249424" cy="274320"/>
          </a:xfrm>
          <a:prstGeom prst="roundRect">
            <a:avLst>
              <a:gd name="adj" fmla="val 12000"/>
            </a:avLst>
          </a:prstGeom>
          <a:solidFill>
            <a:srgbClr val="51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394959"/>
            <a:ext cx="2103120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FFB2A8"/>
                </a:solidFill>
                <a:latin typeface="Aptos"/>
              </a:rPr>
              <a:t>RIGHTS ARE A REAL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7510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3838A"/>
                </a:solidFill>
                <a:latin typeface="Aptos"/>
              </a:rPr>
              <a:t>ILLUSTRATIVE MATCH EXPLANATION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2286000"/>
            <a:ext cx="7726679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41648" y="2542032"/>
            <a:ext cx="411480" cy="411480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1648" y="26517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242316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52D"/>
                </a:solidFill>
                <a:latin typeface="Aptos"/>
              </a:rPr>
              <a:t>Creator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414016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0F766E"/>
                </a:solidFill>
                <a:latin typeface="Aptos"/>
              </a:rPr>
              <a:t>Skills + tool + format align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752344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766E"/>
                </a:solidFill>
                <a:latin typeface="Aptos"/>
              </a:rPr>
              <a:t>License evidence is missing → verify before hire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22191" y="3401568"/>
            <a:ext cx="7726679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41648" y="3657600"/>
            <a:ext cx="411480" cy="411480"/>
          </a:xfrm>
          <a:prstGeom prst="ellipse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1648" y="3767328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B6A12"/>
                </a:solidFill>
                <a:latin typeface="Aptos"/>
              </a:rPr>
              <a:t>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3538727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52D"/>
                </a:solidFill>
                <a:latin typeface="Aptos"/>
              </a:rPr>
              <a:t>Creator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529584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0F766E"/>
                </a:solidFill>
                <a:latin typeface="Aptos"/>
              </a:rPr>
              <a:t>Style + format align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867911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B6A12"/>
                </a:solidFill>
                <a:latin typeface="Aptos"/>
              </a:rPr>
              <a:t>Required tool not listed · license scope differs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22191" y="4517136"/>
            <a:ext cx="7726679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41648" y="4773168"/>
            <a:ext cx="411480" cy="4114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4882896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6B5E"/>
                </a:solidFill>
                <a:latin typeface="Apto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65429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52D"/>
                </a:solidFill>
                <a:latin typeface="Aptos"/>
              </a:rPr>
              <a:t>Creator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645151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0F766E"/>
                </a:solidFill>
                <a:latin typeface="Aptos"/>
              </a:rPr>
              <a:t>Strong visual specialty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83479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6B5E"/>
                </a:solidFill>
                <a:latin typeface="Aptos"/>
              </a:rPr>
              <a:t>No commercial-use claim → not a rights fit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31336" y="5733288"/>
            <a:ext cx="7708392" cy="246888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95928" y="5779008"/>
            <a:ext cx="737920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14E46"/>
                </a:solidFill>
                <a:latin typeface="Aptos"/>
              </a:rPr>
              <a:t>A generic “commercial use available” claim cannot stand in for a required license scope.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5477256"/>
            <a:ext cx="3840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73838A"/>
                </a:solidFill>
                <a:latin typeface="Aptos"/>
              </a:rPr>
              <a:t>Illustrative scores only—not live CreatorTwin rankings.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08 / FROM MATCH TO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4252D"/>
                </a:solidFill>
                <a:latin typeface="Aptos"/>
              </a:rPr>
              <a:t>A “delivered” status should mean work is ready to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3838A"/>
                </a:solidFill>
                <a:latin typeface="Aptos"/>
              </a:rPr>
              <a:t>The engagement record keeps the artifact, revision context and decision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2487168"/>
            <a:ext cx="384048" cy="384048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brief +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871216"/>
            <a:ext cx="2560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24912" y="2487168"/>
            <a:ext cx="384048" cy="384048"/>
          </a:xfrm>
          <a:prstGeom prst="ellipse">
            <a:avLst/>
          </a:prstGeom>
          <a:solidFill>
            <a:srgbClr val="ED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9717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scope +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871216"/>
            <a:ext cx="2560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5152" y="2487168"/>
            <a:ext cx="384048" cy="384048"/>
          </a:xfrm>
          <a:prstGeom prst="ellipse">
            <a:avLst/>
          </a:prstGeom>
          <a:solidFill>
            <a:srgbClr val="ED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9717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Produce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creator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871216"/>
            <a:ext cx="2560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5392" y="2487168"/>
            <a:ext cx="384048" cy="384048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URL +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2871216"/>
            <a:ext cx="2560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85632" y="2487168"/>
            <a:ext cx="384048" cy="38404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6B5E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round +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871216"/>
            <a:ext cx="2560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2295144"/>
            <a:ext cx="159105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5872" y="2487168"/>
            <a:ext cx="384048" cy="384048"/>
          </a:xfrm>
          <a:prstGeom prst="ellipse">
            <a:avLst/>
          </a:prstGeom>
          <a:solidFill>
            <a:srgbClr val="E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5872" y="259689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9900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52D"/>
                </a:solidFill>
                <a:latin typeface="Aptos"/>
              </a:rPr>
              <a:t>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3310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2545C"/>
                </a:solidFill>
                <a:latin typeface="Aptos"/>
              </a:rPr>
              <a:t>review + rating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142232"/>
            <a:ext cx="7040880" cy="1536192"/>
          </a:xfrm>
          <a:prstGeom prst="roundRect">
            <a:avLst>
              <a:gd name="adj" fmla="val 12000"/>
            </a:avLst>
          </a:prstGeom>
          <a:solidFill>
            <a:srgbClr val="0B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40740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EEAD4"/>
                </a:solidFill>
                <a:latin typeface="Aptos"/>
              </a:rPr>
              <a:t>DELIVERY RECORD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" y="4800600"/>
            <a:ext cx="932688" cy="274320"/>
          </a:xfrm>
          <a:prstGeom prst="roundRect">
            <a:avLst>
              <a:gd name="adj" fmla="val 12000"/>
            </a:avLst>
          </a:prstGeom>
          <a:solidFill>
            <a:srgbClr val="1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4809744"/>
            <a:ext cx="786384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Version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8097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8E3E5"/>
                </a:solidFill>
                <a:latin typeface="Aptos"/>
              </a:rPr>
              <a:t>delivery 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1256" y="4764024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5E"/>
                </a:solidFill>
                <a:latin typeface="Apto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1296" y="480974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8E3E5"/>
                </a:solidFill>
                <a:latin typeface="Aptos"/>
              </a:rPr>
              <a:t>creator 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764024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5E"/>
                </a:solidFill>
                <a:latin typeface="Apto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4809744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8E3E5"/>
                </a:solidFill>
                <a:latin typeface="Aptos"/>
              </a:rPr>
              <a:t>revision history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36992" y="4142232"/>
            <a:ext cx="3602736" cy="1536192"/>
          </a:xfrm>
          <a:prstGeom prst="roundRect">
            <a:avLst>
              <a:gd name="adj" fmla="val 12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8" y="440740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94BAB"/>
                </a:solidFill>
                <a:latin typeface="Aptos"/>
              </a:rPr>
              <a:t>SEPARATE TRUST LANE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8" y="4736592"/>
            <a:ext cx="2468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252D"/>
                </a:solidFill>
                <a:latin typeface="Aptos"/>
              </a:rPr>
              <a:t>Creator submits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5047488"/>
            <a:ext cx="290779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2545C"/>
                </a:solidFill>
                <a:latin typeface="Aptos"/>
              </a:rPr>
              <a:t>Reviewer approves or requests changes → visible signal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980176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73838A"/>
                </a:solidFill>
                <a:latin typeface="Aptos"/>
              </a:rPr>
              <a:t>Prototype flow: URL delivery is supported; binary file storage is not yet wired up.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9979A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9979A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457200"/>
            <a:ext cx="3657600" cy="3657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480560"/>
            <a:ext cx="2651760" cy="2651760"/>
          </a:xfrm>
          <a:prstGeom prst="ellipse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09 / WHY CREATORTWIN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Not another place to post AI 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252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7C8CD"/>
                </a:solidFill>
                <a:latin typeface="Aptos"/>
              </a:rPr>
              <a:t>A workflow layer that makes AI creative work easier to evaluate, commission and review.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011679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30552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1975103"/>
            <a:ext cx="2880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AI-native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2331720"/>
            <a:ext cx="2944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7C8CD"/>
                </a:solidFill>
                <a:latin typeface="Aptos"/>
              </a:rPr>
              <a:t>Models, tools, workflow and formats are part of the portfolio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4370831" y="2011679"/>
            <a:ext cx="384048" cy="384048"/>
          </a:xfrm>
          <a:prstGeom prst="ellipse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2130552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7" y="1975103"/>
            <a:ext cx="2880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Brief-to-fit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331720"/>
            <a:ext cx="2944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7C8CD"/>
                </a:solidFill>
                <a:latin typeface="Aptos"/>
              </a:rPr>
              <a:t>A structured brief drives field-level matching with readable reasons.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310127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29000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3273551"/>
            <a:ext cx="2880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Rights-aware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3630168"/>
            <a:ext cx="2944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7C8CD"/>
                </a:solidFill>
                <a:latin typeface="Aptos"/>
              </a:rPr>
              <a:t>License scope is a separate requirement—not a vague badge.</a:t>
            </a:r>
          </a:p>
        </p:txBody>
      </p:sp>
      <p:sp>
        <p:nvSpPr>
          <p:cNvPr id="19" name="Oval 18"/>
          <p:cNvSpPr/>
          <p:nvPr/>
        </p:nvSpPr>
        <p:spPr>
          <a:xfrm>
            <a:off x="4370831" y="3310127"/>
            <a:ext cx="384048" cy="384048"/>
          </a:xfrm>
          <a:prstGeom prst="ellipse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1" y="3429000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273551"/>
            <a:ext cx="2880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Accountable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7" y="3630168"/>
            <a:ext cx="2944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7C8CD"/>
                </a:solidFill>
                <a:latin typeface="Aptos"/>
              </a:rPr>
              <a:t>Delivery links, notes, revisions and approval stay connected.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929384"/>
            <a:ext cx="3310128" cy="2944368"/>
          </a:xfrm>
          <a:prstGeom prst="roundRect">
            <a:avLst>
              <a:gd name="adj" fmla="val 12000"/>
            </a:avLst>
          </a:prstGeom>
          <a:solidFill>
            <a:srgbClr val="132630"/>
          </a:solidFill>
          <a:ln w="12700">
            <a:solidFill>
              <a:srgbClr val="345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2212848"/>
            <a:ext cx="1280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EEAD4"/>
                </a:solidFill>
                <a:latin typeface="Aptos"/>
              </a:rPr>
              <a:t>THE WEDGE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2606040"/>
            <a:ext cx="265176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Evidence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× Brief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× Rights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× Delivery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3064" y="4407408"/>
            <a:ext cx="2697480" cy="274320"/>
          </a:xfrm>
          <a:prstGeom prst="roundRect">
            <a:avLst>
              <a:gd name="adj" fmla="val 12000"/>
            </a:avLst>
          </a:prstGeom>
          <a:solidFill>
            <a:srgbClr val="24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6216" y="4416552"/>
            <a:ext cx="255117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CAD7DA"/>
                </a:solidFill>
                <a:latin typeface="Aptos"/>
              </a:rPr>
              <a:t>PROTOTYPE · NOT MARKETPLACE TRACTION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6" y="5047488"/>
            <a:ext cx="10808208" cy="0"/>
          </a:xfrm>
          <a:prstGeom prst="line">
            <a:avLst/>
          </a:prstGeom>
          <a:ln w="19050">
            <a:solidFill>
              <a:srgbClr val="34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4944" y="5312664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NEXT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66944"/>
            <a:ext cx="9052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Pilot with opt-in creators and real briefs. Measure shortlist time, rights clarity and revision cycles.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934456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AFC2C7"/>
                </a:solidFill>
                <a:latin typeface="Aptos"/>
              </a:rPr>
              <a:t>The defensible idea is the connected evidence model—not a claim that no other platform has any of these features.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8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4" y="6547104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2969D"/>
                </a:solidFill>
                <a:latin typeface="Aptos"/>
              </a:rPr>
              <a:t>CREATORTWIN  /  AI CREATOR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99648" y="652881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2969D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CreatorTwin | AI Creator Marketplace</dc:title>
  <dc:subject>10-slide product and differentiation pitch</dc:subject>
  <dc:creator>CreatorTwin</dc:creator>
  <cp:keywords>AI creators, marketplace, campaign briefs, provenance, licensing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